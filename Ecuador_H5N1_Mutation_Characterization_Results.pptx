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C13B7F-C60A-42C8-8659-97BD75442D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50F3E7-20B7-4780-AD77-DB7DE4EAB4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C36D396-1813-4A29-A273-ACDD64DA4F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EAB3DE9-3B53-4C99-BE73-ADAD3425A1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BCF52F0-865E-4BE8-8BCA-30CFAF4A3B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3E9D055-151C-41E9-A1C2-FF66F52CDD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BEF4D9F-4348-43FC-8682-069AADD9DC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F06F1BD-4295-4D13-900F-457B3B4FDE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245E410-1AAA-431D-B28D-29369A5DED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37B2D74-1DB7-46C6-86C7-55078BA971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0662A91-7B97-426F-B196-5F7C890C03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FDCBABA2-3A58-48B3-AFDE-0B4BE240D3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600254-DBF2-4B51-B425-CC4CD7A95D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8E2505-0561-4A9A-A604-534C863C55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473646-B076-4196-8409-DE2812739A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the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text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889C51-2CFA-430D-9012-E8A091D1604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7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3A873C-75FA-4912-A7C1-CB5F330DF7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to 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Maste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r 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067BE2-179D-4262-9343-792F020541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1D465E-EC83-4D33-ADC5-B4917C726E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EC4A30-EC72-4115-81B3-B1899A18FAA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596A8C-4427-40D5-9AF8-FD1D7D132E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11FAF1-6822-41FD-BEC9-04D798DCF68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23C0C9-69F1-44E8-9D64-FC7248AE2E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8A8640-8B4E-4052-AB8E-56CDF9CD45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7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ectangle 2"/>
          <p:cNvSpPr/>
          <p:nvPr/>
        </p:nvSpPr>
        <p:spPr>
          <a:xfrm>
            <a:off x="0" y="0"/>
            <a:ext cx="209880" cy="6857640"/>
          </a:xfrm>
          <a:prstGeom prst="rect">
            <a:avLst/>
          </a:prstGeom>
          <a:solidFill>
            <a:srgbClr val="f28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1401120" y="1280160"/>
            <a:ext cx="9358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4273d"/>
                </a:solidFill>
                <a:latin typeface="Calibri"/>
              </a:rPr>
              <a:t>Avances en panel temporal y BEAST exploratorio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1213560" y="2286000"/>
            <a:ext cx="88740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f2933"/>
                </a:solidFill>
                <a:latin typeface="Calibri"/>
              </a:rPr>
              <a:t>Pregunta principal: fechar la insercion del clado de Ecuador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1f2933"/>
                </a:solidFill>
                <a:latin typeface="Calibri"/>
              </a:rPr>
              <a:t>Objetivo: construir un panel temporalmente informativo y correr BEAST exploratorio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5"/>
          <p:cNvSpPr/>
          <p:nvPr/>
        </p:nvSpPr>
        <p:spPr>
          <a:xfrm>
            <a:off x="731520" y="3749040"/>
            <a:ext cx="2102760" cy="822600"/>
          </a:xfrm>
          <a:prstGeom prst="roundRect">
            <a:avLst>
              <a:gd name="adj" fmla="val 16667"/>
            </a:avLst>
          </a:prstGeom>
          <a:solidFill>
            <a:srgbClr val="f28e2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f2933"/>
                </a:solidFill>
                <a:latin typeface="Calibri"/>
              </a:rPr>
              <a:t>72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f2933"/>
                </a:solidFill>
                <a:latin typeface="Calibri"/>
              </a:rPr>
              <a:t>taxa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6"/>
          <p:cNvSpPr/>
          <p:nvPr/>
        </p:nvSpPr>
        <p:spPr>
          <a:xfrm>
            <a:off x="3063240" y="3749040"/>
            <a:ext cx="2102760" cy="82260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f2933"/>
                </a:solidFill>
                <a:latin typeface="Calibri"/>
              </a:rPr>
              <a:t>R^2 0.88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f2933"/>
                </a:solidFill>
                <a:latin typeface="Calibri"/>
              </a:rPr>
              <a:t>RTT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ounded Rectangle 7"/>
          <p:cNvSpPr/>
          <p:nvPr/>
        </p:nvSpPr>
        <p:spPr>
          <a:xfrm>
            <a:off x="5394960" y="3749040"/>
            <a:ext cx="2102760" cy="82260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f2933"/>
                </a:solidFill>
                <a:latin typeface="Calibri"/>
              </a:rPr>
              <a:t>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f2933"/>
                </a:solidFill>
                <a:latin typeface="Calibri"/>
              </a:rPr>
              <a:t>outlier temporal y 1 eliminado por QC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8"/>
          <p:cNvSpPr/>
          <p:nvPr/>
        </p:nvSpPr>
        <p:spPr>
          <a:xfrm>
            <a:off x="7726680" y="3749040"/>
            <a:ext cx="2559960" cy="82260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f2933"/>
                </a:solidFill>
                <a:latin typeface="Calibri"/>
              </a:rPr>
              <a:t>Baseline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f2933"/>
                </a:solidFill>
                <a:latin typeface="Calibri"/>
              </a:rPr>
              <a:t>strict + constant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9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4726440" y="6684120"/>
            <a:ext cx="27079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Avances en panel temporal y BEAST exploratorio | H5N1 Ecuador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5"/>
          <p:cNvSpPr/>
          <p:nvPr/>
        </p:nvSpPr>
        <p:spPr>
          <a:xfrm>
            <a:off x="4817880" y="228600"/>
            <a:ext cx="25250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Decision Pipeline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4523760" y="786240"/>
            <a:ext cx="2893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87480"/>
                </a:solidFill>
                <a:latin typeface="Calibri"/>
              </a:rPr>
              <a:t>Exact order proposed for the BEAST analysis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7"/>
          <p:cNvSpPr/>
          <p:nvPr/>
        </p:nvSpPr>
        <p:spPr>
          <a:xfrm>
            <a:off x="822960" y="1051560"/>
            <a:ext cx="2559960" cy="566640"/>
          </a:xfrm>
          <a:prstGeom prst="roundRect">
            <a:avLst>
              <a:gd name="adj" fmla="val 16667"/>
            </a:avLst>
          </a:prstGeom>
          <a:solidFill>
            <a:srgbClr val="f28e2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Root-to-tip visual check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ight Arrow 8"/>
          <p:cNvSpPr/>
          <p:nvPr/>
        </p:nvSpPr>
        <p:spPr>
          <a:xfrm>
            <a:off x="3520440" y="1197720"/>
            <a:ext cx="5025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ounded Rectangle 9"/>
          <p:cNvSpPr/>
          <p:nvPr/>
        </p:nvSpPr>
        <p:spPr>
          <a:xfrm>
            <a:off x="4160520" y="1051560"/>
            <a:ext cx="6857640" cy="56664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933"/>
                </a:solidFill>
                <a:latin typeface="Calibri"/>
              </a:rPr>
              <a:t>positive slope, linearity, outliers, root date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ounded Rectangle 10"/>
          <p:cNvSpPr/>
          <p:nvPr/>
        </p:nvSpPr>
        <p:spPr>
          <a:xfrm>
            <a:off x="822960" y="2011680"/>
            <a:ext cx="2559960" cy="56664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Short pilot run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ight Arrow 11"/>
          <p:cNvSpPr/>
          <p:nvPr/>
        </p:nvSpPr>
        <p:spPr>
          <a:xfrm>
            <a:off x="3520440" y="2157840"/>
            <a:ext cx="5025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ounded Rectangle 12"/>
          <p:cNvSpPr/>
          <p:nvPr/>
        </p:nvSpPr>
        <p:spPr>
          <a:xfrm>
            <a:off x="4160520" y="2011680"/>
            <a:ext cx="6857640" cy="56664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933"/>
                </a:solidFill>
                <a:latin typeface="Calibri"/>
              </a:rPr>
              <a:t>detect obvious XML/model problems early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16"/>
          <p:cNvSpPr/>
          <p:nvPr/>
        </p:nvSpPr>
        <p:spPr>
          <a:xfrm>
            <a:off x="822960" y="3931920"/>
            <a:ext cx="2559960" cy="56664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Validation XMLs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ight Arrow 17"/>
          <p:cNvSpPr/>
          <p:nvPr/>
        </p:nvSpPr>
        <p:spPr>
          <a:xfrm>
            <a:off x="3520440" y="4078080"/>
            <a:ext cx="5025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ounded Rectangle 18"/>
          <p:cNvSpPr/>
          <p:nvPr/>
        </p:nvSpPr>
        <p:spPr>
          <a:xfrm>
            <a:off x="4160520" y="3931920"/>
            <a:ext cx="6857640" cy="56664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933"/>
                </a:solidFill>
                <a:latin typeface="Calibri"/>
              </a:rPr>
              <a:t>strict/UCLN × constant/exponential, 2 replicates with more robust runs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ounded Rectangle 19"/>
          <p:cNvSpPr/>
          <p:nvPr/>
        </p:nvSpPr>
        <p:spPr>
          <a:xfrm>
            <a:off x="822960" y="4892040"/>
            <a:ext cx="2559960" cy="56664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Final model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ight Arrow 20"/>
          <p:cNvSpPr/>
          <p:nvPr/>
        </p:nvSpPr>
        <p:spPr>
          <a:xfrm>
            <a:off x="3520440" y="5038200"/>
            <a:ext cx="5025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ounded Rectangle 21"/>
          <p:cNvSpPr/>
          <p:nvPr/>
        </p:nvSpPr>
        <p:spPr>
          <a:xfrm>
            <a:off x="4160520" y="4892040"/>
            <a:ext cx="6857640" cy="56664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f2933"/>
                </a:solidFill>
                <a:latin typeface="Calibri"/>
              </a:rPr>
              <a:t>Consider adding skyline to model validation and select 1-2 models for final tree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angle 22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3"/>
          <p:cNvSpPr/>
          <p:nvPr/>
        </p:nvSpPr>
        <p:spPr>
          <a:xfrm>
            <a:off x="4939200" y="6684120"/>
            <a:ext cx="228276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Ecuador H5N1 Clade 1 | conceptual explanation slides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5107680" y="228600"/>
            <a:ext cx="19458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Flujo general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991080" y="786240"/>
            <a:ext cx="6086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687480"/>
                </a:solidFill>
                <a:latin typeface="Calibri"/>
              </a:rPr>
              <a:t>Preparacion del panel y corrida bayesiana separadas para iterar sin rehacer BEAST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Rounded Rectangle 4"/>
          <p:cNvSpPr/>
          <p:nvPr/>
        </p:nvSpPr>
        <p:spPr>
          <a:xfrm>
            <a:off x="1600200" y="1371960"/>
            <a:ext cx="4754520" cy="1828440"/>
          </a:xfrm>
          <a:prstGeom prst="roundRect">
            <a:avLst>
              <a:gd name="adj" fmla="val 16667"/>
            </a:avLst>
          </a:prstGeom>
          <a:solidFill>
            <a:srgbClr val="fff2de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Build subset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QC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Root-to-tip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Filtro de outliers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Export final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ounded Rectangle 5"/>
          <p:cNvSpPr/>
          <p:nvPr/>
        </p:nvSpPr>
        <p:spPr>
          <a:xfrm>
            <a:off x="7086600" y="3429000"/>
            <a:ext cx="4754520" cy="137124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02_pre_beast prepara el panel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03_beast corre strict + constant y UCLN + constant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6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7"/>
          <p:cNvSpPr/>
          <p:nvPr/>
        </p:nvSpPr>
        <p:spPr>
          <a:xfrm>
            <a:off x="4726440" y="6684120"/>
            <a:ext cx="27079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Avances en panel temporal y BEAST exploratorio | H5N1 Ecuador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4044960" y="228600"/>
            <a:ext cx="40701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Como se construye el subset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2904840" y="786240"/>
            <a:ext cx="61308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87480"/>
                </a:solidFill>
                <a:latin typeface="Calibri"/>
              </a:rPr>
              <a:t>Parte de un nucleo de Ecuador y suma contexto filogenetico cercano con control de redundancia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3"/>
          <p:cNvSpPr/>
          <p:nvPr/>
        </p:nvSpPr>
        <p:spPr>
          <a:xfrm>
            <a:off x="502920" y="1325880"/>
            <a:ext cx="1599480" cy="867960"/>
          </a:xfrm>
          <a:prstGeom prst="roundRect">
            <a:avLst>
              <a:gd name="adj" fmla="val 16667"/>
            </a:avLst>
          </a:prstGeom>
          <a:solidFill>
            <a:srgbClr val="f28e2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2933"/>
                </a:solidFill>
                <a:latin typeface="Calibri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2933"/>
                </a:solidFill>
                <a:latin typeface="Calibri"/>
              </a:rPr>
              <a:t>Nucleo Ecuador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4"/>
          <p:cNvSpPr/>
          <p:nvPr/>
        </p:nvSpPr>
        <p:spPr>
          <a:xfrm>
            <a:off x="502920" y="2359080"/>
            <a:ext cx="1599480" cy="5662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f2933"/>
                </a:solidFill>
                <a:latin typeface="Calibri"/>
              </a:rPr>
              <a:t>seed del clado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ight Arrow 5"/>
          <p:cNvSpPr/>
          <p:nvPr/>
        </p:nvSpPr>
        <p:spPr>
          <a:xfrm>
            <a:off x="2176200" y="1627560"/>
            <a:ext cx="41076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s-ES_tradnl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Rounded Rectangle 6"/>
          <p:cNvSpPr/>
          <p:nvPr/>
        </p:nvSpPr>
        <p:spPr>
          <a:xfrm>
            <a:off x="2770560" y="1325880"/>
            <a:ext cx="1599480" cy="86796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2933"/>
                </a:solidFill>
                <a:latin typeface="Calibri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2933"/>
                </a:solidFill>
                <a:latin typeface="Calibri"/>
              </a:rPr>
              <a:t>Contexto regional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7"/>
          <p:cNvSpPr/>
          <p:nvPr/>
        </p:nvSpPr>
        <p:spPr>
          <a:xfrm>
            <a:off x="2770560" y="2359080"/>
            <a:ext cx="1599480" cy="5662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f2933"/>
                </a:solidFill>
                <a:latin typeface="Calibri"/>
              </a:rPr>
              <a:t>cercania filogenetica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ight Arrow 8"/>
          <p:cNvSpPr/>
          <p:nvPr/>
        </p:nvSpPr>
        <p:spPr>
          <a:xfrm>
            <a:off x="4443840" y="1627560"/>
            <a:ext cx="41076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s-ES_tradnl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Rounded Rectangle 9"/>
          <p:cNvSpPr/>
          <p:nvPr/>
        </p:nvSpPr>
        <p:spPr>
          <a:xfrm>
            <a:off x="5038200" y="1325880"/>
            <a:ext cx="1599480" cy="86796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2933"/>
                </a:solidFill>
                <a:latin typeface="Calibri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2933"/>
                </a:solidFill>
                <a:latin typeface="Calibri"/>
              </a:rPr>
              <a:t>Control redundancia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Rounded Rectangle 10"/>
          <p:cNvSpPr/>
          <p:nvPr/>
        </p:nvSpPr>
        <p:spPr>
          <a:xfrm>
            <a:off x="5038200" y="2359080"/>
            <a:ext cx="1599480" cy="5662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f2933"/>
                </a:solidFill>
                <a:latin typeface="Calibri"/>
              </a:rPr>
              <a:t>pais y mes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ight Arrow 11"/>
          <p:cNvSpPr/>
          <p:nvPr/>
        </p:nvSpPr>
        <p:spPr>
          <a:xfrm>
            <a:off x="6711840" y="1627560"/>
            <a:ext cx="41076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s-ES_tradnl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Rounded Rectangle 12"/>
          <p:cNvSpPr/>
          <p:nvPr/>
        </p:nvSpPr>
        <p:spPr>
          <a:xfrm>
            <a:off x="7306200" y="1325880"/>
            <a:ext cx="1599480" cy="86796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2933"/>
                </a:solidFill>
                <a:latin typeface="Calibri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2933"/>
                </a:solidFill>
                <a:latin typeface="Calibri"/>
              </a:rPr>
              <a:t>Anchors Americas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ounded Rectangle 13"/>
          <p:cNvSpPr/>
          <p:nvPr/>
        </p:nvSpPr>
        <p:spPr>
          <a:xfrm>
            <a:off x="7306200" y="2359080"/>
            <a:ext cx="1599480" cy="5662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f2933"/>
                </a:solidFill>
                <a:latin typeface="Calibri"/>
              </a:rPr>
              <a:t>mejorar senal temporal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ight Arrow 14"/>
          <p:cNvSpPr/>
          <p:nvPr/>
        </p:nvSpPr>
        <p:spPr>
          <a:xfrm>
            <a:off x="8979480" y="1627560"/>
            <a:ext cx="410760" cy="227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s-ES_tradnl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Rounded Rectangle 15"/>
          <p:cNvSpPr/>
          <p:nvPr/>
        </p:nvSpPr>
        <p:spPr>
          <a:xfrm>
            <a:off x="9573840" y="1325880"/>
            <a:ext cx="1599480" cy="867960"/>
          </a:xfrm>
          <a:prstGeom prst="roundRect">
            <a:avLst>
              <a:gd name="adj" fmla="val 16667"/>
            </a:avLst>
          </a:prstGeom>
          <a:solidFill>
            <a:srgbClr val="f28e2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2933"/>
                </a:solidFill>
                <a:latin typeface="Calibri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1f2933"/>
                </a:solidFill>
                <a:latin typeface="Calibri"/>
              </a:rPr>
              <a:t>Panel final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16"/>
          <p:cNvSpPr/>
          <p:nvPr/>
        </p:nvSpPr>
        <p:spPr>
          <a:xfrm>
            <a:off x="9573840" y="2359080"/>
            <a:ext cx="1599480" cy="566280"/>
          </a:xfrm>
          <a:prstGeom prst="roundRect">
            <a:avLst>
              <a:gd name="adj" fmla="val 16667"/>
            </a:avLst>
          </a:prstGeom>
          <a:solidFill>
            <a:srgbClr val="f7f9f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1f2933"/>
                </a:solidFill>
                <a:latin typeface="Calibri"/>
              </a:rPr>
              <a:t>diverso y defendible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ounded Rectangle 17"/>
          <p:cNvSpPr/>
          <p:nvPr/>
        </p:nvSpPr>
        <p:spPr>
          <a:xfrm>
            <a:off x="685800" y="3703320"/>
            <a:ext cx="5165640" cy="1050840"/>
          </a:xfrm>
          <a:prstGeom prst="roundRect">
            <a:avLst>
              <a:gd name="adj" fmla="val 16667"/>
            </a:avLst>
          </a:prstGeom>
          <a:solidFill>
            <a:srgbClr val="fff2de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2933"/>
                </a:solidFill>
                <a:latin typeface="Calibri"/>
              </a:rPr>
              <a:t>No se arma al azar: parte de Ecuador y anade contexto cercano.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18"/>
          <p:cNvSpPr/>
          <p:nvPr/>
        </p:nvSpPr>
        <p:spPr>
          <a:xfrm>
            <a:off x="6309360" y="3703320"/>
            <a:ext cx="5165640" cy="1050840"/>
          </a:xfrm>
          <a:prstGeom prst="roundRect">
            <a:avLst>
              <a:gd name="adj" fmla="val 16667"/>
            </a:avLst>
          </a:prstGeom>
          <a:solidFill>
            <a:srgbClr val="fff2de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2933"/>
                </a:solidFill>
                <a:latin typeface="Calibri"/>
              </a:rPr>
              <a:t>Se fuerza diversidad temporal y geografica para evitar paneles redundantes.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19"/>
          <p:cNvSpPr/>
          <p:nvPr/>
        </p:nvSpPr>
        <p:spPr>
          <a:xfrm>
            <a:off x="822960" y="5166360"/>
            <a:ext cx="10697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500" spc="-1" strike="noStrike">
                <a:solidFill>
                  <a:srgbClr val="1f2933"/>
                </a:solidFill>
                <a:latin typeface="Calibri"/>
              </a:rPr>
              <a:t>Nucleo ecuatoriano + contexto regional + anchors americanos enmarcan mejor el evento de interes.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 20"/>
          <p:cNvSpPr/>
          <p:nvPr/>
        </p:nvSpPr>
        <p:spPr>
          <a:xfrm>
            <a:off x="0" y="6647760"/>
            <a:ext cx="12191040" cy="3600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640" bIns="-8640" anchor="t">
            <a:noAutofit/>
          </a:bodyPr>
          <a:p>
            <a:pPr defTabSz="457200">
              <a:lnSpc>
                <a:spcPct val="100000"/>
              </a:lnSpc>
            </a:pPr>
            <a:endParaRPr b="0" lang="es-ES_tradnl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TextBox 21"/>
          <p:cNvSpPr/>
          <p:nvPr/>
        </p:nvSpPr>
        <p:spPr>
          <a:xfrm>
            <a:off x="4726440" y="6684120"/>
            <a:ext cx="27079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Avances en panel temporal y BEAST exploratorio | H5N1 Ecuador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3417480" y="228600"/>
            <a:ext cx="5326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Decisiones del panel en esta iteracion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2" name="Table 2"/>
          <p:cNvGraphicFramePr/>
          <p:nvPr/>
        </p:nvGraphicFramePr>
        <p:xfrm>
          <a:off x="594360" y="1188720"/>
          <a:ext cx="6491880" cy="1710000"/>
        </p:xfrm>
        <a:graphic>
          <a:graphicData uri="http://schemas.openxmlformats.org/drawingml/2006/table">
            <a:tbl>
              <a:tblPr/>
              <a:tblGrid>
                <a:gridCol w="1920240"/>
                <a:gridCol w="548640"/>
                <a:gridCol w="4023360"/>
              </a:tblGrid>
              <a:tr h="3769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Parametro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</a:tr>
              <a:tr h="376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regional_context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40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76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american_anchor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76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panel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74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133" name="TextBox 3"/>
          <p:cNvSpPr/>
          <p:nvPr/>
        </p:nvSpPr>
        <p:spPr>
          <a:xfrm>
            <a:off x="457200" y="2999520"/>
            <a:ext cx="6309000" cy="27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1f2933"/>
                </a:solidFill>
                <a:latin typeface="Calibri"/>
              </a:rPr>
              <a:t>Mas contexto regional y mas anchors americanos utiles (que no juntan con otros grupos como eurasia o usa distal) mejoraron la senal temporal.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1f2933"/>
                </a:solidFill>
                <a:latin typeface="Calibri"/>
              </a:rPr>
              <a:t>Se incluyo obligatoriamente OQ968009 que se uso como root en los ml por ser el mas antiguo del contexto.</a:t>
            </a:r>
            <a:br>
              <a:rPr sz="1600"/>
            </a:br>
            <a:r>
              <a:rPr b="0" lang="en-US" sz="1600" spc="-1" strike="noStrike">
                <a:solidFill>
                  <a:srgbClr val="1f2933"/>
                </a:solidFill>
                <a:latin typeface="Calibri"/>
              </a:rPr>
              <a:t>TBE min= 50%,</a:t>
            </a:r>
            <a:br>
              <a:rPr sz="1600"/>
            </a:br>
            <a:r>
              <a:rPr b="0" lang="en-US" sz="1600" spc="-1" strike="noStrike">
                <a:solidFill>
                  <a:srgbClr val="1f2933"/>
                </a:solidFill>
                <a:latin typeface="Calibri"/>
              </a:rPr>
              <a:t>n_per_country = 12, </a:t>
            </a:r>
            <a:br>
              <a:rPr sz="1600"/>
            </a:br>
            <a:r>
              <a:rPr b="0" lang="en-US" sz="1600" spc="-1" strike="noStrike">
                <a:solidFill>
                  <a:srgbClr val="1f2933"/>
                </a:solidFill>
                <a:latin typeface="Calibri"/>
              </a:rPr>
              <a:t>max_per_country_month = 4,</a:t>
            </a:r>
            <a:br>
              <a:rPr sz="1600"/>
            </a:br>
            <a:r>
              <a:rPr b="0" lang="en-US" sz="1600" spc="-1" strike="noStrike">
                <a:solidFill>
                  <a:srgbClr val="1f2933"/>
                </a:solidFill>
                <a:latin typeface="Calibri"/>
              </a:rPr>
              <a:t>additional_american_anchor_quota = 5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4" name="Table 4"/>
          <p:cNvGraphicFramePr/>
          <p:nvPr/>
        </p:nvGraphicFramePr>
        <p:xfrm>
          <a:off x="7315200" y="1151280"/>
          <a:ext cx="4800600" cy="2506320"/>
        </p:xfrm>
        <a:graphic>
          <a:graphicData uri="http://schemas.openxmlformats.org/drawingml/2006/table">
            <a:tbl>
              <a:tblPr/>
              <a:tblGrid>
                <a:gridCol w="2400120"/>
                <a:gridCol w="1679760"/>
                <a:gridCol w="720720"/>
              </a:tblGrid>
              <a:tr h="794160">
                <a:tc gridSpan="3"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 hMerge="1"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 hMerge="1"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</a:tr>
              <a:tr h="855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RTT outliers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filtrado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8564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export final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data/beast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panel limpio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135" name="Rounded Rectangle 5"/>
          <p:cNvSpPr/>
          <p:nvPr/>
        </p:nvSpPr>
        <p:spPr>
          <a:xfrm>
            <a:off x="7498440" y="4343400"/>
            <a:ext cx="3931560" cy="141696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f2933"/>
                </a:solidFill>
                <a:latin typeface="Calibri"/>
              </a:rPr>
              <a:t>El panel relajado fue el mas util para esta iteracion.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 6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4726440" y="6684120"/>
            <a:ext cx="27079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Avances en panel temporal y BEAST exploratorio | H5N1 Ecuador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4702320" y="299160"/>
            <a:ext cx="27565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QC antes de BEAST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2"/>
          <p:cNvSpPr/>
          <p:nvPr/>
        </p:nvSpPr>
        <p:spPr>
          <a:xfrm>
            <a:off x="594360" y="155448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f28e2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QC fuente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685080" y="2971800"/>
            <a:ext cx="11898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933"/>
                </a:solidFill>
                <a:latin typeface="Calibri"/>
              </a:rPr>
              <a:t>secuencias origen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ight Arrow 4"/>
          <p:cNvSpPr/>
          <p:nvPr/>
        </p:nvSpPr>
        <p:spPr>
          <a:xfrm>
            <a:off x="1920240" y="1892880"/>
            <a:ext cx="50256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Rounded Rectangle 5"/>
          <p:cNvSpPr/>
          <p:nvPr/>
        </p:nvSpPr>
        <p:spPr>
          <a:xfrm>
            <a:off x="2468880" y="155448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Filtro QC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2871360" y="2971800"/>
            <a:ext cx="6001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933"/>
                </a:solidFill>
                <a:latin typeface="Calibri"/>
              </a:rPr>
              <a:t>Islas 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ight Arrow 7"/>
          <p:cNvSpPr/>
          <p:nvPr/>
        </p:nvSpPr>
        <p:spPr>
          <a:xfrm>
            <a:off x="3794760" y="1892880"/>
            <a:ext cx="50256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ounded Rectangle 8"/>
          <p:cNvSpPr/>
          <p:nvPr/>
        </p:nvSpPr>
        <p:spPr>
          <a:xfrm>
            <a:off x="4343400" y="155448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Root-to-tip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4539240" y="2971800"/>
            <a:ext cx="10162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933"/>
                </a:solidFill>
                <a:latin typeface="Calibri"/>
              </a:rPr>
              <a:t>primer barrido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ight Arrow 10"/>
          <p:cNvSpPr/>
          <p:nvPr/>
        </p:nvSpPr>
        <p:spPr>
          <a:xfrm>
            <a:off x="5669280" y="1892880"/>
            <a:ext cx="50256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Rounded Rectangle 11"/>
          <p:cNvSpPr/>
          <p:nvPr/>
        </p:nvSpPr>
        <p:spPr>
          <a:xfrm>
            <a:off x="6217920" y="155448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4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Outliers RTT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12"/>
          <p:cNvSpPr/>
          <p:nvPr/>
        </p:nvSpPr>
        <p:spPr>
          <a:xfrm>
            <a:off x="6199560" y="2971800"/>
            <a:ext cx="14443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933"/>
                </a:solidFill>
                <a:latin typeface="Calibri"/>
              </a:rPr>
              <a:t>discordancia temporal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ight Arrow 13"/>
          <p:cNvSpPr/>
          <p:nvPr/>
        </p:nvSpPr>
        <p:spPr>
          <a:xfrm>
            <a:off x="7543800" y="1892880"/>
            <a:ext cx="50256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Rounded Rectangle 14"/>
          <p:cNvSpPr/>
          <p:nvPr/>
        </p:nvSpPr>
        <p:spPr>
          <a:xfrm>
            <a:off x="8092440" y="155448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f28e2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Excluir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15"/>
          <p:cNvSpPr/>
          <p:nvPr/>
        </p:nvSpPr>
        <p:spPr>
          <a:xfrm>
            <a:off x="8273880" y="2971800"/>
            <a:ext cx="104508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933"/>
                </a:solidFill>
                <a:latin typeface="Calibri"/>
              </a:rPr>
              <a:t>antes del panel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ight Arrow 16"/>
          <p:cNvSpPr/>
          <p:nvPr/>
        </p:nvSpPr>
        <p:spPr>
          <a:xfrm>
            <a:off x="9418320" y="1892880"/>
            <a:ext cx="50256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ounded Rectangle 17"/>
          <p:cNvSpPr/>
          <p:nvPr/>
        </p:nvSpPr>
        <p:spPr>
          <a:xfrm>
            <a:off x="9966960" y="1554480"/>
            <a:ext cx="1416960" cy="105120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f2933"/>
                </a:solidFill>
                <a:latin typeface="Calibri"/>
              </a:rPr>
              <a:t>Exportar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8"/>
          <p:cNvSpPr/>
          <p:nvPr/>
        </p:nvSpPr>
        <p:spPr>
          <a:xfrm>
            <a:off x="10222920" y="2942280"/>
            <a:ext cx="89568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f2933"/>
                </a:solidFill>
                <a:latin typeface="Calibri"/>
              </a:rPr>
              <a:t>a data/beast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19"/>
          <p:cNvSpPr/>
          <p:nvPr/>
        </p:nvSpPr>
        <p:spPr>
          <a:xfrm>
            <a:off x="914400" y="4251960"/>
            <a:ext cx="10332360" cy="91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1f2933"/>
                </a:solidFill>
                <a:latin typeface="Calibri"/>
              </a:rPr>
              <a:t>El pipeline combina QC de secuencia y TreeTime para detectar outliers en un RTT y excluirlos antes de exportar el panel final.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1f2933"/>
                </a:solidFill>
                <a:latin typeface="Calibri"/>
              </a:rPr>
              <a:t>El filtro elimino 1 muestra de bolivia con 15% ns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ectangle 20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21"/>
          <p:cNvSpPr/>
          <p:nvPr/>
        </p:nvSpPr>
        <p:spPr>
          <a:xfrm>
            <a:off x="4726440" y="6684120"/>
            <a:ext cx="27079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Avances en panel temporal y BEAST exploratorio | H5N1 Ecuador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/>
          <p:nvPr/>
        </p:nvSpPr>
        <p:spPr>
          <a:xfrm>
            <a:off x="268200" y="173880"/>
            <a:ext cx="341424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Root-to-tip regression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Picture 2" descr="root_to_tip_regression.png"/>
          <p:cNvPicPr/>
          <p:nvPr/>
        </p:nvPicPr>
        <p:blipFill>
          <a:blip r:embed="rId1"/>
          <a:stretch/>
        </p:blipFill>
        <p:spPr>
          <a:xfrm>
            <a:off x="3951000" y="86760"/>
            <a:ext cx="8104320" cy="6683760"/>
          </a:xfrm>
          <a:prstGeom prst="rect">
            <a:avLst/>
          </a:prstGeom>
          <a:ln w="0">
            <a:noFill/>
          </a:ln>
        </p:spPr>
      </p:pic>
      <p:sp>
        <p:nvSpPr>
          <p:cNvPr id="161" name="Rectangle 3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4"/>
          <p:cNvSpPr/>
          <p:nvPr/>
        </p:nvSpPr>
        <p:spPr>
          <a:xfrm>
            <a:off x="4726440" y="6684120"/>
            <a:ext cx="27079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Avances en panel temporal y BEAST exploratorio | H5N1 Ecuador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RTT"/>
          <p:cNvSpPr/>
          <p:nvPr/>
        </p:nvSpPr>
        <p:spPr>
          <a:xfrm>
            <a:off x="320040" y="1188720"/>
            <a:ext cx="32000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- Pendiente positiva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- R^2 = 0.88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- Root date = 2018.05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- 1 outlier temporal marcado en rojo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4843800" y="228600"/>
            <a:ext cx="24732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Outlier temporal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777240" y="1143000"/>
            <a:ext cx="5577480" cy="256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spcAft>
                <a:spcPts val="799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1f2933"/>
                </a:solidFill>
                <a:latin typeface="Calibri"/>
              </a:rPr>
              <a:t>- Contexto regional, no Ecuador core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799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1f2933"/>
                </a:solidFill>
                <a:latin typeface="Calibri"/>
              </a:rPr>
              <a:t>- Residual = 4.51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799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1f2933"/>
                </a:solidFill>
                <a:latin typeface="Calibri"/>
              </a:rPr>
              <a:t>- Detectado en RTT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799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1f2933"/>
                </a:solidFill>
                <a:latin typeface="Calibri"/>
              </a:rPr>
              <a:t>- Excluido antes del panel final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799"/>
              </a:spcAft>
              <a:buClr>
                <a:srgbClr val="1f2933"/>
              </a:buClr>
              <a:buFont typeface="Arial"/>
              <a:buChar char="•"/>
            </a:pPr>
            <a:br>
              <a:rPr sz="1700"/>
            </a:br>
            <a:br>
              <a:rPr sz="1700"/>
            </a:br>
            <a:br>
              <a:rPr sz="1700"/>
            </a:b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ounded Rectangle 3"/>
          <p:cNvSpPr/>
          <p:nvPr/>
        </p:nvSpPr>
        <p:spPr>
          <a:xfrm>
            <a:off x="6983280" y="1417320"/>
            <a:ext cx="4297320" cy="2011320"/>
          </a:xfrm>
          <a:prstGeom prst="roundRect">
            <a:avLst>
              <a:gd name="adj" fmla="val 16667"/>
            </a:avLst>
          </a:prstGeom>
          <a:solidFill>
            <a:srgbClr val="fff2de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f2933"/>
                </a:solidFill>
                <a:latin typeface="Calibri"/>
              </a:rPr>
              <a:t>1775-N_OR878092.1__regional_context/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f2933"/>
                </a:solidFill>
                <a:latin typeface="Calibri"/>
              </a:rPr>
              <a:t>Brazil/2023-06-23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 4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4726440" y="6684120"/>
            <a:ext cx="27079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Avances en panel temporal y BEAST exploratorio | H5N1 Ecuador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ounded Rectangle 1"/>
          <p:cNvSpPr/>
          <p:nvPr/>
        </p:nvSpPr>
        <p:spPr>
          <a:xfrm>
            <a:off x="3429000" y="4114800"/>
            <a:ext cx="4297320" cy="2011320"/>
          </a:xfrm>
          <a:prstGeom prst="roundRect">
            <a:avLst>
              <a:gd name="adj" fmla="val 16667"/>
            </a:avLst>
          </a:prstGeom>
          <a:solidFill>
            <a:srgbClr val="fff2de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/>
            <a:r>
              <a:rPr b="1" lang="en-US" sz="1600" spc="-1" strike="noStrike">
                <a:solidFill>
                  <a:srgbClr val="1f2933"/>
                </a:solidFill>
                <a:latin typeface="Calibri"/>
              </a:rPr>
              <a:t>72 taxa finales para beast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/>
          <p:nvPr/>
        </p:nvSpPr>
        <p:spPr>
          <a:xfrm>
            <a:off x="1856880" y="228600"/>
            <a:ext cx="2755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XMLs y particiones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1" name="Table 2"/>
          <p:cNvGraphicFramePr/>
          <p:nvPr/>
        </p:nvGraphicFramePr>
        <p:xfrm>
          <a:off x="1054800" y="952200"/>
          <a:ext cx="10423800" cy="1737000"/>
        </p:xfrm>
        <a:graphic>
          <a:graphicData uri="http://schemas.openxmlformats.org/drawingml/2006/table">
            <a:tbl>
              <a:tblPr/>
              <a:tblGrid>
                <a:gridCol w="3474720"/>
                <a:gridCol w="6949440"/>
              </a:tblGrid>
              <a:tr h="4341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Aspecto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Decision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</a:tr>
              <a:tr h="434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Templates base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versionados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34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Regeneracion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no desde BEAUti cada iteracion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34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Particiones de sitio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se preservan del template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Table 3"/>
          <p:cNvGraphicFramePr/>
          <p:nvPr/>
        </p:nvGraphicFramePr>
        <p:xfrm>
          <a:off x="1033560" y="2998440"/>
          <a:ext cx="9509400" cy="1600200"/>
        </p:xfrm>
        <a:graphic>
          <a:graphicData uri="http://schemas.openxmlformats.org/drawingml/2006/table">
            <a:tbl>
              <a:tblPr/>
              <a:tblGrid>
                <a:gridCol w="4389120"/>
                <a:gridCol w="512064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Se reescribe con parametros en config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Uso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chainLength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profundidad de cadena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logEvery / treeEvery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muestreo y salida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echoEvery / outputs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seguimiento reproducible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comparabilidad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mismo particionado entre escenarios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173" name="Rectangle 4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4726440" y="6684120"/>
            <a:ext cx="27079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Avances en panel temporal y BEAST exploratorio | H5N1 Ecuador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5"/>
          <p:cNvSpPr/>
          <p:nvPr/>
        </p:nvSpPr>
        <p:spPr>
          <a:xfrm>
            <a:off x="4741200" y="228600"/>
            <a:ext cx="26773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BEAUti XML </a:t>
            </a: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Setup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3747960" y="786240"/>
            <a:ext cx="4445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87480"/>
                </a:solidFill>
                <a:latin typeface="Calibri"/>
              </a:rPr>
              <a:t>Build one defensible base </a:t>
            </a:r>
            <a:r>
              <a:rPr b="0" lang="en-US" sz="1200" spc="-1" strike="noStrike">
                <a:solidFill>
                  <a:srgbClr val="687480"/>
                </a:solidFill>
                <a:latin typeface="Calibri"/>
              </a:rPr>
              <a:t>XML, then change only </a:t>
            </a:r>
            <a:r>
              <a:rPr b="0" lang="en-US" sz="1200" spc="-1" strike="noStrike">
                <a:solidFill>
                  <a:srgbClr val="687480"/>
                </a:solidFill>
                <a:latin typeface="Calibri"/>
              </a:rPr>
              <a:t>clock and tree prior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7"/>
          <p:cNvSpPr/>
          <p:nvPr/>
        </p:nvSpPr>
        <p:spPr>
          <a:xfrm>
            <a:off x="685800" y="1143000"/>
            <a:ext cx="2925720" cy="959760"/>
          </a:xfrm>
          <a:prstGeom prst="roundRect">
            <a:avLst>
              <a:gd name="adj" fmla="val 16667"/>
            </a:avLst>
          </a:prstGeom>
          <a:solidFill>
            <a:srgbClr val="f28e2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2933"/>
                </a:solidFill>
                <a:latin typeface="Calibri"/>
              </a:rPr>
              <a:t>14 partitions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822960" y="2331720"/>
            <a:ext cx="3108600" cy="12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PB2/PB1/PA/HA/NP/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NA split as cp12 and 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cp3.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MP and NS kept as 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simple segment 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partitions.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Tip dates loaded from 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metadata.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ounded Rectangle 9"/>
          <p:cNvSpPr/>
          <p:nvPr/>
        </p:nvSpPr>
        <p:spPr>
          <a:xfrm>
            <a:off x="4434840" y="1143000"/>
            <a:ext cx="2925720" cy="95976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2933"/>
                </a:solidFill>
                <a:latin typeface="Calibri"/>
              </a:rPr>
              <a:t>Substitution </a:t>
            </a:r>
            <a:r>
              <a:rPr b="1" lang="en-US" sz="2000" spc="-1" strike="noStrike">
                <a:solidFill>
                  <a:srgbClr val="1f2933"/>
                </a:solidFill>
                <a:latin typeface="Calibri"/>
              </a:rPr>
              <a:t>model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10"/>
          <p:cNvSpPr/>
          <p:nvPr/>
        </p:nvSpPr>
        <p:spPr>
          <a:xfrm>
            <a:off x="4526280" y="2331720"/>
            <a:ext cx="3200040" cy="14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SRD06 for the six main 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coding segments.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HKY + Γ4 for cp12/cp3, 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MP and 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Base frequencies 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estimated.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No +I in first round. 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Consideration for 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posible validation, as it 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introduces artifacts if </a:t>
            </a: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not careful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ounded Rectangle 11"/>
          <p:cNvSpPr/>
          <p:nvPr/>
        </p:nvSpPr>
        <p:spPr>
          <a:xfrm>
            <a:off x="8183880" y="1143000"/>
            <a:ext cx="2925720" cy="95976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f2933"/>
                </a:solidFill>
                <a:latin typeface="Calibri"/>
              </a:rPr>
              <a:t>Linking strategy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12"/>
          <p:cNvSpPr/>
          <p:nvPr/>
        </p:nvSpPr>
        <p:spPr>
          <a:xfrm>
            <a:off x="8275320" y="2331720"/>
            <a:ext cx="3062880" cy="10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Trees linked.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Site models unlinked.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Clock linked at the start.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1f2933"/>
                </a:solidFill>
                <a:latin typeface="Calibri"/>
              </a:rPr>
              <a:t>Use same base XML for all scenarios.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13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14"/>
          <p:cNvSpPr/>
          <p:nvPr/>
        </p:nvSpPr>
        <p:spPr>
          <a:xfrm>
            <a:off x="4939200" y="6684120"/>
            <a:ext cx="228276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Ecuador H5N1 Clade 1 | conceptual explanation slides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Box 5"/>
          <p:cNvSpPr/>
          <p:nvPr/>
        </p:nvSpPr>
        <p:spPr>
          <a:xfrm>
            <a:off x="4136040" y="228600"/>
            <a:ext cx="388908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BEAST Validation Scenarios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6"/>
          <p:cNvSpPr/>
          <p:nvPr/>
        </p:nvSpPr>
        <p:spPr>
          <a:xfrm>
            <a:off x="4067280" y="786240"/>
            <a:ext cx="3806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87480"/>
                </a:solidFill>
                <a:latin typeface="Calibri"/>
              </a:rPr>
              <a:t>Separate the effect of clock model from demographic prior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7" name="Table 7"/>
          <p:cNvGraphicFramePr/>
          <p:nvPr/>
        </p:nvGraphicFramePr>
        <p:xfrm>
          <a:off x="914400" y="1143000"/>
          <a:ext cx="8988840" cy="2941920"/>
        </p:xfrm>
        <a:graphic>
          <a:graphicData uri="http://schemas.openxmlformats.org/drawingml/2006/table">
            <a:tbl>
              <a:tblPr/>
              <a:tblGrid>
                <a:gridCol w="1393920"/>
                <a:gridCol w="2883960"/>
                <a:gridCol w="3076200"/>
                <a:gridCol w="1634400"/>
              </a:tblGrid>
              <a:tr h="47232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Scenario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Clock model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Tree prior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Replicates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Strict clock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Constant population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Calibri"/>
                          <a:ea typeface="Noto Sans CJK SC"/>
                        </a:rPr>
                        <a:t> </a:t>
                      </a: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UCLN relaxed clock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Calibri"/>
                          <a:ea typeface="Noto Sans CJK SC"/>
                        </a:rPr>
                        <a:t> </a:t>
                      </a: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Constant population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Second phase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UCLN relaxed clock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Skyline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if first phase converges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72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Calibri"/>
                          <a:ea typeface="Noto Sans CJK SC"/>
                        </a:rPr>
                        <a:t>Strict clock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1f2933"/>
                          </a:solidFill>
                          <a:latin typeface="Calibri"/>
                          <a:ea typeface="Noto Sans CJK SC"/>
                        </a:rPr>
                        <a:t>Exponential population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792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UCLN relaxed clock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Exponential population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188" name="Rounded Rectangle 8"/>
          <p:cNvSpPr/>
          <p:nvPr/>
        </p:nvSpPr>
        <p:spPr>
          <a:xfrm>
            <a:off x="1143000" y="4617720"/>
            <a:ext cx="9783720" cy="914040"/>
          </a:xfrm>
          <a:prstGeom prst="roundRect">
            <a:avLst>
              <a:gd name="adj" fmla="val 16667"/>
            </a:avLst>
          </a:prstGeom>
          <a:solidFill>
            <a:srgbClr val="fff2de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Why not start with skyline? First validate simpler clock/coalescent combinations. Add skyline only if the simpler models converge, give stable estimates, and the relaxed clock shows promising results.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ectangle 9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10"/>
          <p:cNvSpPr/>
          <p:nvPr/>
        </p:nvSpPr>
        <p:spPr>
          <a:xfrm>
            <a:off x="4939200" y="6684120"/>
            <a:ext cx="228276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Ecuador H5N1 Clade 1 | conceptual explanation slides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 5"/>
          <p:cNvSpPr/>
          <p:nvPr/>
        </p:nvSpPr>
        <p:spPr>
          <a:xfrm>
            <a:off x="3215520" y="228600"/>
            <a:ext cx="5730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How To Decide If BEAST Runs Are Usable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6"/>
          <p:cNvSpPr/>
          <p:nvPr/>
        </p:nvSpPr>
        <p:spPr>
          <a:xfrm>
            <a:off x="4230360" y="786240"/>
            <a:ext cx="34804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87480"/>
                </a:solidFill>
                <a:latin typeface="Calibri"/>
              </a:rPr>
              <a:t>Tracer checks before interpreting tMRCA or clock rate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3" name="Table 7"/>
          <p:cNvGraphicFramePr/>
          <p:nvPr/>
        </p:nvGraphicFramePr>
        <p:xfrm>
          <a:off x="822960" y="1143000"/>
          <a:ext cx="5760360" cy="274320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Tracer check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What we want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Trace behavior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no trend at the end; stationary posterior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ESS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&gt;200 ideal; &gt;150 can be acceptable if key parameters mix well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Replicate overlap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clock rate, tree height, tMRCA and coalescent parameters agree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Model stability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result should not depend on one run only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194" name="Rounded Rectangle 8"/>
          <p:cNvSpPr/>
          <p:nvPr/>
        </p:nvSpPr>
        <p:spPr>
          <a:xfrm>
            <a:off x="7132320" y="1371600"/>
            <a:ext cx="4205880" cy="114264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2933"/>
                </a:solidFill>
                <a:latin typeface="Calibri"/>
              </a:rPr>
              <a:t>If strict and UCLN give similar dates, the result is more robust.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9"/>
          <p:cNvSpPr/>
          <p:nvPr/>
        </p:nvSpPr>
        <p:spPr>
          <a:xfrm>
            <a:off x="7132320" y="2880360"/>
            <a:ext cx="4205880" cy="1142640"/>
          </a:xfrm>
          <a:prstGeom prst="roundRect">
            <a:avLst>
              <a:gd name="adj" fmla="val 16667"/>
            </a:avLst>
          </a:prstGeom>
          <a:solidFill>
            <a:srgbClr val="fff2de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2933"/>
                </a:solidFill>
                <a:latin typeface="Calibri"/>
              </a:rPr>
              <a:t>If only UCLN works well, rate heterogeneity is likely important.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ounded Rectangle 10"/>
          <p:cNvSpPr/>
          <p:nvPr/>
        </p:nvSpPr>
        <p:spPr>
          <a:xfrm>
            <a:off x="7132320" y="4389120"/>
            <a:ext cx="4205880" cy="1142640"/>
          </a:xfrm>
          <a:prstGeom prst="roundRect">
            <a:avLst>
              <a:gd name="adj" fmla="val 16667"/>
            </a:avLst>
          </a:prstGeom>
          <a:solidFill>
            <a:srgbClr val="ffe8e8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18800" rIns="118800" tIns="7308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1f2933"/>
                </a:solidFill>
                <a:latin typeface="Calibri"/>
              </a:rPr>
              <a:t>If runs fail to mix, simplify dataset/model before making claims.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 11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12"/>
          <p:cNvSpPr/>
          <p:nvPr/>
        </p:nvSpPr>
        <p:spPr>
          <a:xfrm>
            <a:off x="4939200" y="6684120"/>
            <a:ext cx="228276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Ecuador H5N1 Clade 1 | conceptual explanation slides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"/>
          <p:cNvSpPr/>
          <p:nvPr/>
        </p:nvSpPr>
        <p:spPr>
          <a:xfrm>
            <a:off x="3673440" y="228600"/>
            <a:ext cx="48139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Resultado del primer exploratorio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2"/>
          <p:cNvSpPr/>
          <p:nvPr/>
        </p:nvSpPr>
        <p:spPr>
          <a:xfrm>
            <a:off x="3184560" y="786240"/>
            <a:ext cx="5574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687480"/>
                </a:solidFill>
                <a:latin typeface="Calibri"/>
              </a:rPr>
              <a:t>strict + constant mezcla mejor; UCLN ajusta marginalmente mejor likelihood no madura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1" name="Table 3"/>
          <p:cNvGraphicFramePr/>
          <p:nvPr/>
        </p:nvGraphicFramePr>
        <p:xfrm>
          <a:off x="320040" y="1188720"/>
          <a:ext cx="11246760" cy="4983480"/>
        </p:xfrm>
        <a:graphic>
          <a:graphicData uri="http://schemas.openxmlformats.org/drawingml/2006/table">
            <a:tbl>
              <a:tblPr/>
              <a:tblGrid>
                <a:gridCol w="1199520"/>
                <a:gridCol w="2024280"/>
                <a:gridCol w="3148920"/>
                <a:gridCol w="2999160"/>
                <a:gridCol w="1874880"/>
              </a:tblGrid>
              <a:tr h="52776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Escenario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Metrica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Valor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Lectura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Decision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</a:tr>
              <a:tr h="556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strict + constant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treeLikelihood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~ -28606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baseline estable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referencia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56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strict + constant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rootHeight ESS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~296 combinado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temporal usable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ok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56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strict + constant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clock.rate ESS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~385 combinado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buena mezcla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ok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56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strict + constant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constant.popSize ESS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~354 combinado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estable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ok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56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UCLN + constant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treeLikelihood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~ -28558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likelihood mejor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no basta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0d8e7"/>
                    </a:solidFill>
                  </a:tcPr>
                </a:tc>
              </a:tr>
              <a:tr h="556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UCLN + constant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rootHeight ESS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~50 combinado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temporal flojo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seguir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569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UCLN + constant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meanRate ESS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~55 combinado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mezcla pobre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seguir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572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UCLN + constant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ucld.mean/stdev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~135 / ~172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EC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mas flexible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mas cadena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202" name="TextBox 4"/>
          <p:cNvSpPr/>
          <p:nvPr/>
        </p:nvSpPr>
        <p:spPr>
          <a:xfrm>
            <a:off x="457560" y="6341400"/>
            <a:ext cx="109724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rgbClr val="1f2933"/>
                </a:solidFill>
                <a:latin typeface="Calibri"/>
              </a:rPr>
              <a:t>Baseline actual: strict + constant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ectangle 5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6"/>
          <p:cNvSpPr/>
          <p:nvPr/>
        </p:nvSpPr>
        <p:spPr>
          <a:xfrm>
            <a:off x="4726440" y="6684120"/>
            <a:ext cx="27079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Avances en panel temporal y BEAST exploratorio | H5N1 Ecuador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4194720" y="228600"/>
            <a:ext cx="37717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Proxima tanda de corridas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6" name="Table 2"/>
          <p:cNvGraphicFramePr/>
          <p:nvPr/>
        </p:nvGraphicFramePr>
        <p:xfrm>
          <a:off x="685800" y="1143000"/>
          <a:ext cx="3657240" cy="26161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339480"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Escenario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14273d"/>
                          </a:solidFill>
                          <a:latin typeface="Calibri"/>
                        </a:rPr>
                        <a:t>Plan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2"/>
                    </a:solidFill>
                  </a:tcPr>
                </a:tc>
              </a:tr>
              <a:tr h="33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strict + constant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100M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3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UCLN + constant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120M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3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log/tree/echo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10000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3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tiempo por replica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~5-6 h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3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prioridad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profundizar constant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3948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siguiente salto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600" spc="-1" strike="noStrike">
                          <a:solidFill>
                            <a:srgbClr val="1f2933"/>
                          </a:solidFill>
                          <a:latin typeface="Calibri"/>
                        </a:rPr>
                        <a:t>luego exponential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207" name="Rounded Rectangle 3"/>
          <p:cNvSpPr/>
          <p:nvPr/>
        </p:nvSpPr>
        <p:spPr>
          <a:xfrm>
            <a:off x="5120640" y="1188720"/>
            <a:ext cx="2742840" cy="914040"/>
          </a:xfrm>
          <a:prstGeom prst="roundRect">
            <a:avLst>
              <a:gd name="adj" fmla="val 16667"/>
            </a:avLst>
          </a:prstGeom>
          <a:solidFill>
            <a:srgbClr val="f28e2b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100M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strict_constant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ounded Rectangle 4"/>
          <p:cNvSpPr/>
          <p:nvPr/>
        </p:nvSpPr>
        <p:spPr>
          <a:xfrm>
            <a:off x="8321040" y="1188720"/>
            <a:ext cx="2742840" cy="914040"/>
          </a:xfrm>
          <a:prstGeom prst="roundRect">
            <a:avLst>
              <a:gd name="adj" fmla="val 16667"/>
            </a:avLst>
          </a:prstGeom>
          <a:solidFill>
            <a:srgbClr val="e8eef2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120M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f2933"/>
                </a:solidFill>
                <a:latin typeface="Calibri"/>
              </a:rPr>
              <a:t>ucln_constant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5166360" y="2743200"/>
            <a:ext cx="594324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1f2933"/>
                </a:solidFill>
                <a:latin typeface="Calibri"/>
              </a:rPr>
              <a:t>Antes de pasar a exponential, conviene estabilizar reloj y datacion bajo constant, mejorar a resultados mas reales en UCLN. Ya que constant tenia prior clock rate de rtt.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ectangle 6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TextBox 7"/>
          <p:cNvSpPr/>
          <p:nvPr/>
        </p:nvSpPr>
        <p:spPr>
          <a:xfrm>
            <a:off x="4726440" y="6684120"/>
            <a:ext cx="27079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Avances en panel temporal y BEAST exploratorio | H5N1 Ecuador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"/>
          <p:cNvSpPr/>
          <p:nvPr/>
        </p:nvSpPr>
        <p:spPr>
          <a:xfrm>
            <a:off x="5242320" y="228600"/>
            <a:ext cx="16761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14273d"/>
                </a:solidFill>
                <a:latin typeface="Calibri"/>
              </a:rPr>
              <a:t>Conclusion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ounded Rectangle 2"/>
          <p:cNvSpPr/>
          <p:nvPr/>
        </p:nvSpPr>
        <p:spPr>
          <a:xfrm>
            <a:off x="731520" y="1143000"/>
            <a:ext cx="1279800" cy="347040"/>
          </a:xfrm>
          <a:prstGeom prst="roundRect">
            <a:avLst>
              <a:gd name="adj" fmla="val 16667"/>
            </a:avLst>
          </a:prstGeom>
          <a:solidFill>
            <a:srgbClr val="f28e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Senal temporal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3"/>
          <p:cNvSpPr/>
          <p:nvPr/>
        </p:nvSpPr>
        <p:spPr>
          <a:xfrm>
            <a:off x="731520" y="1600200"/>
            <a:ext cx="5211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1f2933"/>
                </a:solidFill>
                <a:latin typeface="Calibri"/>
              </a:rPr>
              <a:t>R^2 = 0.88 y root date 2018.05 en RTT pre-filter.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ounded Rectangle 4"/>
          <p:cNvSpPr/>
          <p:nvPr/>
        </p:nvSpPr>
        <p:spPr>
          <a:xfrm>
            <a:off x="731520" y="3063240"/>
            <a:ext cx="1279800" cy="347040"/>
          </a:xfrm>
          <a:prstGeom prst="roundRect">
            <a:avLst>
              <a:gd name="adj" fmla="val 16667"/>
            </a:avLst>
          </a:prstGeom>
          <a:solidFill>
            <a:srgbClr val="376ea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Filtro 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Box 5"/>
          <p:cNvSpPr/>
          <p:nvPr/>
        </p:nvSpPr>
        <p:spPr>
          <a:xfrm>
            <a:off x="731520" y="3520440"/>
            <a:ext cx="5211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1f2933"/>
                </a:solidFill>
                <a:latin typeface="Calibri"/>
              </a:rPr>
              <a:t>1 outlier temporal detectado en RTT y 1 muestra con 15% islas ns: excluidos antes del panel final.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ounded Rectangle 6"/>
          <p:cNvSpPr/>
          <p:nvPr/>
        </p:nvSpPr>
        <p:spPr>
          <a:xfrm>
            <a:off x="6400800" y="1143000"/>
            <a:ext cx="1279800" cy="347040"/>
          </a:xfrm>
          <a:prstGeom prst="roundRect">
            <a:avLst>
              <a:gd name="adj" fmla="val 16667"/>
            </a:avLst>
          </a:prstGeom>
          <a:solidFill>
            <a:srgbClr val="50916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Baseline BEAST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6400800" y="1600200"/>
            <a:ext cx="50288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457200">
              <a:lnSpc>
                <a:spcPct val="100000"/>
              </a:lnSpc>
              <a:spcAft>
                <a:spcPts val="400"/>
              </a:spcAft>
              <a:buClr>
                <a:srgbClr val="1f2933"/>
              </a:buClr>
              <a:buFont typeface="Arial"/>
              <a:buChar char="•"/>
            </a:pPr>
            <a:r>
              <a:rPr b="0" lang="en-US" sz="1500" spc="-1" strike="noStrike">
                <a:solidFill>
                  <a:srgbClr val="1f2933"/>
                </a:solidFill>
                <a:latin typeface="Calibri"/>
              </a:rPr>
              <a:t>strict + constant mezcla mejor y sirve como referencia temporal inicial.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ounded Rectangle 8"/>
          <p:cNvSpPr/>
          <p:nvPr/>
        </p:nvSpPr>
        <p:spPr>
          <a:xfrm>
            <a:off x="6248520" y="3063240"/>
            <a:ext cx="5410080" cy="1737360"/>
          </a:xfrm>
          <a:prstGeom prst="roundRect">
            <a:avLst>
              <a:gd name="adj" fmla="val 16667"/>
            </a:avLst>
          </a:prstGeom>
          <a:solidFill>
            <a:srgbClr val="fff2de"/>
          </a:solidFill>
          <a:ln>
            <a:solidFill>
              <a:srgbClr val="d2dce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914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f2933"/>
                </a:solidFill>
                <a:latin typeface="Calibri"/>
              </a:rPr>
              <a:t> </a:t>
            </a:r>
            <a:r>
              <a:rPr b="1" lang="en-US" sz="1700" spc="-1" strike="noStrike">
                <a:solidFill>
                  <a:srgbClr val="1f2933"/>
                </a:solidFill>
                <a:latin typeface="Calibri"/>
              </a:rPr>
              <a:t>la siguiente decision es si UCLN mejora con cadenas mas largas, para justificar intentar con skyline. Y correr con modelos exponenciales para comparacion.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 9"/>
          <p:cNvSpPr/>
          <p:nvPr/>
        </p:nvSpPr>
        <p:spPr>
          <a:xfrm>
            <a:off x="0" y="6647760"/>
            <a:ext cx="12191400" cy="36360"/>
          </a:xfrm>
          <a:prstGeom prst="rect">
            <a:avLst/>
          </a:prstGeom>
          <a:solidFill>
            <a:srgbClr val="e8ee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TextBox 10"/>
          <p:cNvSpPr/>
          <p:nvPr/>
        </p:nvSpPr>
        <p:spPr>
          <a:xfrm>
            <a:off x="4726440" y="6684120"/>
            <a:ext cx="270792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750" spc="-1" strike="noStrike">
                <a:solidFill>
                  <a:srgbClr val="687480"/>
                </a:solidFill>
                <a:latin typeface="Calibri"/>
              </a:rPr>
              <a:t>Avances en panel temporal y BEAST exploratorio | H5N1 Ecuador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Application>LibreOffice/24.2.7.2$Linux_X86_64 LibreOffice_project/420$Build-2</Application>
  <AppVersion>15.0000</AppVersion>
  <Words>2098</Words>
  <Paragraphs>344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2026-04-16T00:09:46Z</dcterms:modified>
  <cp:revision>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21</vt:i4>
  </property>
</Properties>
</file>